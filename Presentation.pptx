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🫁 Respiratory Symptom Diagnosis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Contributors</a:t>
            </a:r>
            <a:r>
              <a:rPr/>
              <a:t>: [Your Name/Team] </a:t>
            </a:r>
            <a:r>
              <a:rPr b="1"/>
              <a:t>Course</a:t>
            </a:r>
            <a:r>
              <a:rPr/>
              <a:t>: DBMS Project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Objective</a:t>
            </a:r>
            <a:r>
              <a:rPr/>
              <a:t>: A robust application to collect patient clinical encounters, respiratory symptoms, and relevant medical history to generate a theoretical disease probability score.</a:t>
            </a:r>
          </a:p>
          <a:p>
            <a:pPr lvl="0" indent="0" marL="0">
              <a:buNone/>
            </a:pPr>
            <a:r>
              <a:rPr b="1"/>
              <a:t>Key Features</a:t>
            </a:r>
            <a:r>
              <a:rPr/>
              <a:t>: - </a:t>
            </a:r>
            <a:r>
              <a:rPr b="1"/>
              <a:t>Patient Registration</a:t>
            </a:r>
            <a:r>
              <a:rPr/>
              <a:t>: Capture demographics. - </a:t>
            </a:r>
            <a:r>
              <a:rPr b="1"/>
              <a:t>Encounter Processing</a:t>
            </a:r>
            <a:r>
              <a:rPr/>
              <a:t>: Track symptoms, cough characteristics, breath sounds, and environmental exposures. - </a:t>
            </a:r>
            <a:r>
              <a:rPr b="1"/>
              <a:t>Diagnostic Engine</a:t>
            </a:r>
            <a:r>
              <a:rPr/>
              <a:t>: Calculates probability score and risk level. - </a:t>
            </a:r>
            <a:r>
              <a:rPr b="1"/>
              <a:t>Past Reports Querying</a:t>
            </a:r>
            <a:r>
              <a:rPr/>
              <a:t>: Aggregates stored diagnoses for review.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🏗️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Frontend Interface (UI)</a:t>
            </a:r>
            <a:r>
              <a:rPr/>
              <a:t>: Built with </a:t>
            </a:r>
            <a:r>
              <a:rPr b="1"/>
              <a:t>Streamlit</a:t>
            </a:r>
            <a:r>
              <a:rPr/>
              <a:t> (Python).</a:t>
            </a:r>
          </a:p>
          <a:p>
            <a:pPr lvl="0"/>
            <a:r>
              <a:rPr b="1"/>
              <a:t>Backend Service</a:t>
            </a:r>
            <a:r>
              <a:rPr/>
              <a:t>: Serves as the middleware (</a:t>
            </a:r>
            <a:r>
              <a:rPr>
                <a:latin typeface="Courier"/>
              </a:rPr>
              <a:t>backend_service.py</a:t>
            </a:r>
            <a:r>
              <a:rPr/>
              <a:t>), generating UUIDs, orchestrating data linkage, and running the diagnostic engine logic.</a:t>
            </a:r>
          </a:p>
          <a:p>
            <a:pPr lvl="0"/>
            <a:r>
              <a:rPr b="1"/>
              <a:t>Database</a:t>
            </a:r>
            <a:r>
              <a:rPr/>
              <a:t>: </a:t>
            </a:r>
            <a:r>
              <a:rPr b="1"/>
              <a:t>MongoDB</a:t>
            </a:r>
            <a:r>
              <a:rPr/>
              <a:t> (</a:t>
            </a:r>
            <a:r>
              <a:rPr>
                <a:latin typeface="Courier"/>
              </a:rPr>
              <a:t>database.py</a:t>
            </a:r>
            <a:r>
              <a:rPr/>
              <a:t>) using </a:t>
            </a:r>
            <a:r>
              <a:rPr>
                <a:latin typeface="Courier"/>
              </a:rPr>
              <a:t>pymongo</a:t>
            </a:r>
            <a:r>
              <a:rPr/>
              <a:t>. A NoSQL document-based structure tailored for fast, decoupled medical records.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🗄️ Database Schema &amp;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data is normalized logically but stored in MongoDB as interconnected collections: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patients</a:t>
            </a:r>
          </a:p>
          <a:p>
            <a:pPr lvl="1"/>
            <a:r>
              <a:rPr>
                <a:latin typeface="Courier"/>
              </a:rPr>
              <a:t>PatientID</a:t>
            </a:r>
            <a:r>
              <a:rPr/>
              <a:t> (Primary Key), </a:t>
            </a:r>
            <a:r>
              <a:rPr>
                <a:latin typeface="Courier"/>
              </a:rPr>
              <a:t>Name</a:t>
            </a:r>
            <a:r>
              <a:rPr/>
              <a:t>, </a:t>
            </a:r>
            <a:r>
              <a:rPr>
                <a:latin typeface="Courier"/>
              </a:rPr>
              <a:t>DOB</a:t>
            </a:r>
            <a:r>
              <a:rPr/>
              <a:t>, </a:t>
            </a:r>
            <a:r>
              <a:rPr>
                <a:latin typeface="Courier"/>
              </a:rPr>
              <a:t>Gender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clinical_encounters</a:t>
            </a:r>
          </a:p>
          <a:p>
            <a:pPr lvl="1"/>
            <a:r>
              <a:rPr>
                <a:latin typeface="Courier"/>
              </a:rPr>
              <a:t>EncounterID</a:t>
            </a:r>
            <a:r>
              <a:rPr/>
              <a:t> (PK), </a:t>
            </a:r>
            <a:r>
              <a:rPr>
                <a:latin typeface="Courier"/>
              </a:rPr>
              <a:t>PatientID</a:t>
            </a:r>
            <a:r>
              <a:rPr/>
              <a:t> (FK), </a:t>
            </a:r>
            <a:r>
              <a:rPr>
                <a:latin typeface="Courier"/>
              </a:rPr>
              <a:t>EncounterDate</a:t>
            </a:r>
            <a:r>
              <a:rPr/>
              <a:t>, </a:t>
            </a:r>
            <a:r>
              <a:rPr>
                <a:latin typeface="Courier"/>
              </a:rPr>
              <a:t>EncounterType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respiratory_symptoms</a:t>
            </a:r>
          </a:p>
          <a:p>
            <a:pPr lvl="1"/>
            <a:r>
              <a:rPr>
                <a:latin typeface="Courier"/>
              </a:rPr>
              <a:t>SymptomID</a:t>
            </a:r>
            <a:r>
              <a:rPr/>
              <a:t> (PK), </a:t>
            </a:r>
            <a:r>
              <a:rPr>
                <a:latin typeface="Courier"/>
              </a:rPr>
              <a:t>EncounterID</a:t>
            </a:r>
            <a:r>
              <a:rPr/>
              <a:t> (FK), </a:t>
            </a:r>
            <a:r>
              <a:rPr>
                <a:latin typeface="Courier"/>
              </a:rPr>
              <a:t>SymptomType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cough_characteristics</a:t>
            </a:r>
          </a:p>
          <a:p>
            <a:pPr lvl="1"/>
            <a:r>
              <a:rPr>
                <a:latin typeface="Courier"/>
              </a:rPr>
              <a:t>CharacteristicID</a:t>
            </a:r>
            <a:r>
              <a:rPr/>
              <a:t> (PK), </a:t>
            </a:r>
            <a:r>
              <a:rPr>
                <a:latin typeface="Courier"/>
              </a:rPr>
              <a:t>EncounterID</a:t>
            </a:r>
            <a:r>
              <a:rPr/>
              <a:t> (FK), </a:t>
            </a:r>
            <a:r>
              <a:rPr>
                <a:latin typeface="Courier"/>
              </a:rPr>
              <a:t>CoughType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breath_sounds</a:t>
            </a:r>
          </a:p>
          <a:p>
            <a:pPr lvl="1"/>
            <a:r>
              <a:rPr>
                <a:latin typeface="Courier"/>
              </a:rPr>
              <a:t>SoundID</a:t>
            </a:r>
            <a:r>
              <a:rPr/>
              <a:t> (PK), </a:t>
            </a:r>
            <a:r>
              <a:rPr>
                <a:latin typeface="Courier"/>
              </a:rPr>
              <a:t>EncounterID</a:t>
            </a:r>
            <a:r>
              <a:rPr/>
              <a:t> (FK), </a:t>
            </a:r>
            <a:r>
              <a:rPr>
                <a:latin typeface="Courier"/>
              </a:rPr>
              <a:t>Location</a:t>
            </a:r>
            <a:r>
              <a:rPr/>
              <a:t>, </a:t>
            </a:r>
            <a:r>
              <a:rPr>
                <a:latin typeface="Courier"/>
              </a:rPr>
              <a:t>SoundType</a:t>
            </a:r>
            <a:r>
              <a:rPr/>
              <a:t>, </a:t>
            </a:r>
            <a:r>
              <a:rPr>
                <a:latin typeface="Courier"/>
              </a:rPr>
              <a:t>Intensity</a:t>
            </a:r>
            <a:r>
              <a:rPr/>
              <a:t>, </a:t>
            </a:r>
            <a:r>
              <a:rPr>
                <a:latin typeface="Courier"/>
              </a:rPr>
              <a:t>Pitch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smoking_histories</a:t>
            </a:r>
            <a:r>
              <a:rPr/>
              <a:t> (Upsert behavior per patient)</a:t>
            </a:r>
          </a:p>
          <a:p>
            <a:pPr lvl="1"/>
            <a:r>
              <a:rPr>
                <a:latin typeface="Courier"/>
              </a:rPr>
              <a:t>HistoryID</a:t>
            </a:r>
            <a:r>
              <a:rPr/>
              <a:t> (PK), </a:t>
            </a:r>
            <a:r>
              <a:rPr>
                <a:latin typeface="Courier"/>
              </a:rPr>
              <a:t>PatientID</a:t>
            </a:r>
            <a:r>
              <a:rPr/>
              <a:t> (FK), </a:t>
            </a:r>
            <a:r>
              <a:rPr>
                <a:latin typeface="Courier"/>
              </a:rPr>
              <a:t>SmokingStatus</a:t>
            </a:r>
            <a:r>
              <a:rPr/>
              <a:t>, </a:t>
            </a:r>
            <a:r>
              <a:rPr>
                <a:latin typeface="Courier"/>
              </a:rPr>
              <a:t>PacksPerDay</a:t>
            </a:r>
            <a:r>
              <a:rPr/>
              <a:t>, </a:t>
            </a:r>
            <a:r>
              <a:rPr>
                <a:latin typeface="Courier"/>
              </a:rPr>
              <a:t>YearsSmoked</a:t>
            </a:r>
            <a:r>
              <a:rPr/>
              <a:t>, </a:t>
            </a:r>
            <a:r>
              <a:rPr>
                <a:latin typeface="Courier"/>
              </a:rPr>
              <a:t>QuitDate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environmental_exposures</a:t>
            </a:r>
            <a:r>
              <a:rPr/>
              <a:t> (Upsert behavior per patient)</a:t>
            </a:r>
          </a:p>
          <a:p>
            <a:pPr lvl="1"/>
            <a:r>
              <a:rPr>
                <a:latin typeface="Courier"/>
              </a:rPr>
              <a:t>PatientID</a:t>
            </a:r>
            <a:r>
              <a:rPr/>
              <a:t> (PK/FK), </a:t>
            </a:r>
            <a:r>
              <a:rPr>
                <a:latin typeface="Courier"/>
              </a:rPr>
              <a:t>ExposureType</a:t>
            </a:r>
            <a:r>
              <a:rPr/>
              <a:t>, </a:t>
            </a:r>
            <a:r>
              <a:rPr>
                <a:latin typeface="Courier"/>
              </a:rPr>
              <a:t>Duration</a:t>
            </a:r>
            <a:r>
              <a:rPr/>
              <a:t>, </a:t>
            </a:r>
            <a:r>
              <a:rPr>
                <a:latin typeface="Courier"/>
              </a:rPr>
              <a:t>Setting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disease_probability_scores</a:t>
            </a:r>
          </a:p>
          <a:p>
            <a:pPr lvl="1"/>
            <a:r>
              <a:rPr>
                <a:latin typeface="Courier"/>
              </a:rPr>
              <a:t>ScoreID</a:t>
            </a:r>
            <a:r>
              <a:rPr/>
              <a:t> (PK), </a:t>
            </a:r>
            <a:r>
              <a:rPr>
                <a:latin typeface="Courier"/>
              </a:rPr>
              <a:t>EncounterID</a:t>
            </a:r>
            <a:r>
              <a:rPr/>
              <a:t> (FK), </a:t>
            </a:r>
            <a:r>
              <a:rPr>
                <a:latin typeface="Courier"/>
              </a:rPr>
              <a:t>TargetDisease</a:t>
            </a:r>
            <a:r>
              <a:rPr/>
              <a:t>, </a:t>
            </a:r>
            <a:r>
              <a:rPr>
                <a:latin typeface="Courier"/>
              </a:rPr>
              <a:t>ProbabilityScore</a:t>
            </a:r>
            <a:r>
              <a:rPr/>
              <a:t>, </a:t>
            </a:r>
            <a:r>
              <a:rPr>
                <a:latin typeface="Courier"/>
              </a:rPr>
              <a:t>RiskLevel</a:t>
            </a:r>
            <a:r>
              <a:rPr/>
              <a:t>, </a:t>
            </a:r>
            <a:r>
              <a:rPr>
                <a:latin typeface="Courier"/>
              </a:rPr>
              <a:t>AlgorithmVersion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Entity Relationship (How Tables Connect)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database utilizes clear structural links through ID mapping:</a:t>
            </a:r>
          </a:p>
          <a:p>
            <a:pPr lvl="0" indent="0" marL="0">
              <a:buNone/>
            </a:pPr>
            <a:r>
              <a:rPr b="1"/>
              <a:t>1. The Core Anchor: </a:t>
            </a:r>
            <a:r>
              <a:rPr b="1">
                <a:latin typeface="Courier"/>
              </a:rPr>
              <a:t>patients</a:t>
            </a:r>
            <a:r>
              <a:rPr b="1"/>
              <a:t> Table</a:t>
            </a:r>
            <a:r>
              <a:rPr/>
              <a:t> - Acts as the main anchor for all records. - </a:t>
            </a:r>
            <a:r>
              <a:rPr b="1"/>
              <a:t>Primary Key</a:t>
            </a:r>
            <a:r>
              <a:rPr/>
              <a:t>: </a:t>
            </a:r>
            <a:r>
              <a:rPr>
                <a:latin typeface="Courier"/>
              </a:rPr>
              <a:t>PatientID</a:t>
            </a:r>
          </a:p>
          <a:p>
            <a:pPr lvl="0" indent="0" marL="0">
              <a:buNone/>
            </a:pPr>
            <a:r>
              <a:rPr b="1"/>
              <a:t>2. The Event Hub: </a:t>
            </a:r>
            <a:r>
              <a:rPr b="1">
                <a:latin typeface="Courier"/>
              </a:rPr>
              <a:t>clinical_encounters</a:t>
            </a:r>
            <a:r>
              <a:rPr b="1"/>
              <a:t> Table</a:t>
            </a:r>
            <a:r>
              <a:rPr/>
              <a:t> - Links to the Patient. Every time someone visits, a new Encounter is born. - </a:t>
            </a:r>
            <a:r>
              <a:rPr b="1"/>
              <a:t>Primary Key</a:t>
            </a:r>
            <a:r>
              <a:rPr/>
              <a:t>: </a:t>
            </a:r>
            <a:r>
              <a:rPr>
                <a:latin typeface="Courier"/>
              </a:rPr>
              <a:t>EncounterID</a:t>
            </a:r>
            <a:r>
              <a:rPr/>
              <a:t> - </a:t>
            </a:r>
            <a:r>
              <a:rPr b="1"/>
              <a:t>Foreign Key</a:t>
            </a:r>
            <a:r>
              <a:rPr/>
              <a:t>: </a:t>
            </a:r>
            <a:r>
              <a:rPr>
                <a:latin typeface="Courier"/>
              </a:rPr>
              <a:t>PatientID</a:t>
            </a:r>
            <a:r>
              <a:rPr/>
              <a:t> (Links back to patients table).</a:t>
            </a:r>
          </a:p>
          <a:p>
            <a:pPr lvl="0" indent="0" marL="0">
              <a:buNone/>
            </a:pPr>
            <a:r>
              <a:rPr b="1"/>
              <a:t>3. Encounter Details: The 1-to-Many Tables</a:t>
            </a:r>
            <a:r>
              <a:rPr/>
              <a:t> - Symptoms, Coughs, and Breath sounds are measured </a:t>
            </a:r>
            <a:r>
              <a:rPr i="1"/>
              <a:t>per visit</a:t>
            </a:r>
            <a:r>
              <a:rPr/>
              <a:t>. - They do not map to the patient directly, they map to the specific encounter. - </a:t>
            </a:r>
            <a:r>
              <a:rPr b="1"/>
              <a:t>Foreign Key</a:t>
            </a:r>
            <a:r>
              <a:rPr/>
              <a:t>: </a:t>
            </a:r>
            <a:r>
              <a:rPr>
                <a:latin typeface="Courier"/>
              </a:rPr>
              <a:t>EncounterID</a:t>
            </a:r>
            <a:r>
              <a:rPr/>
              <a:t> (Links back to clinical_encounters).</a:t>
            </a:r>
          </a:p>
          <a:p>
            <a:pPr lvl="0" indent="0" marL="0">
              <a:buNone/>
            </a:pPr>
            <a:r>
              <a:rPr b="1"/>
              <a:t>4. Patient History: The 1-to-1 Tables</a:t>
            </a:r>
            <a:r>
              <a:rPr/>
              <a:t> - Smoking History &amp; Environmental Exposures are unique to the </a:t>
            </a:r>
            <a:r>
              <a:rPr i="1"/>
              <a:t>person</a:t>
            </a:r>
            <a:r>
              <a:rPr/>
              <a:t>, not the visit. - </a:t>
            </a:r>
            <a:r>
              <a:rPr b="1"/>
              <a:t>Foreign Key</a:t>
            </a:r>
            <a:r>
              <a:rPr/>
              <a:t>: </a:t>
            </a:r>
            <a:r>
              <a:rPr>
                <a:latin typeface="Courier"/>
              </a:rPr>
              <a:t>PatientID</a:t>
            </a:r>
            <a:r>
              <a:rPr/>
              <a:t> (Links back to patients).</a:t>
            </a:r>
          </a:p>
          <a:p>
            <a:pPr lvl="0" indent="0" marL="0">
              <a:buNone/>
            </a:pPr>
            <a:r>
              <a:rPr b="1"/>
              <a:t>5. The Output: </a:t>
            </a:r>
            <a:r>
              <a:rPr b="1">
                <a:latin typeface="Courier"/>
              </a:rPr>
              <a:t>disease_probability_scores</a:t>
            </a:r>
            <a:r>
              <a:rPr b="1"/>
              <a:t> Table</a:t>
            </a:r>
            <a:r>
              <a:rPr/>
              <a:t> - The diagnostic engine’s result. - </a:t>
            </a:r>
            <a:r>
              <a:rPr b="1"/>
              <a:t>Foreign Key</a:t>
            </a:r>
            <a:r>
              <a:rPr/>
              <a:t>: </a:t>
            </a:r>
            <a:r>
              <a:rPr>
                <a:latin typeface="Courier"/>
              </a:rPr>
              <a:t>EncounterID</a:t>
            </a:r>
            <a:r>
              <a:rPr/>
              <a:t> (Links back to clinical_encounters).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🔄 ER Diagram Summary</a:t>
            </a:r>
          </a:p>
        </p:txBody>
      </p:sp>
      <p:pic>
        <p:nvPicPr>
          <p:cNvPr descr="/home/animesh-roy/.gemini/antigravity/brain/80e38f32-13c1-4422-a492-7f33317034eb/er_diagram_strict_attributes_17737509298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Database Entity Relationship Diagram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🔄 Workflow: New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User Input (</a:t>
            </a:r>
            <a:r>
              <a:rPr b="1">
                <a:latin typeface="Courier"/>
              </a:rPr>
              <a:t>app.py</a:t>
            </a:r>
            <a:r>
              <a:rPr b="1"/>
              <a:t>)</a:t>
            </a:r>
            <a:r>
              <a:rPr/>
              <a:t>: User enters details in Streams tabs (Patient Info, Symptoms, Breath Sounds, History).</a:t>
            </a:r>
          </a:p>
          <a:p>
            <a:pPr lvl="0" indent="-342900" marL="342900">
              <a:buAutoNum type="arabicPeriod"/>
            </a:pPr>
            <a:r>
              <a:rPr b="1"/>
              <a:t>Data Orchestration (</a:t>
            </a:r>
            <a:r>
              <a:rPr b="1">
                <a:latin typeface="Courier"/>
              </a:rPr>
              <a:t>backend_service.py</a:t>
            </a:r>
            <a:r>
              <a:rPr b="1"/>
              <a:t>)</a:t>
            </a:r>
            <a:r>
              <a:rPr/>
              <a:t>:</a:t>
            </a:r>
          </a:p>
          <a:p>
            <a:pPr lvl="1"/>
            <a:r>
              <a:rPr/>
              <a:t>Assigns unique </a:t>
            </a:r>
            <a:r>
              <a:rPr>
                <a:latin typeface="Courier"/>
              </a:rPr>
              <a:t>UUIDs</a:t>
            </a:r>
            <a:r>
              <a:rPr/>
              <a:t> (</a:t>
            </a:r>
            <a:r>
              <a:rPr>
                <a:latin typeface="Courier"/>
              </a:rPr>
              <a:t>PatientID</a:t>
            </a:r>
            <a:r>
              <a:rPr/>
              <a:t>, </a:t>
            </a:r>
            <a:r>
              <a:rPr>
                <a:latin typeface="Courier"/>
              </a:rPr>
              <a:t>EncounterID</a:t>
            </a:r>
            <a:r>
              <a:rPr/>
              <a:t>).</a:t>
            </a:r>
          </a:p>
          <a:p>
            <a:pPr lvl="1"/>
            <a:r>
              <a:rPr/>
              <a:t>Propagates these foreign keys to related dataset dictionaries (e.g., Encounter ID sent to </a:t>
            </a:r>
            <a:r>
              <a:rPr>
                <a:latin typeface="Courier"/>
              </a:rPr>
              <a:t>symptom</a:t>
            </a:r>
            <a:r>
              <a:rPr/>
              <a:t>, </a:t>
            </a:r>
            <a:r>
              <a:rPr>
                <a:latin typeface="Courier"/>
              </a:rPr>
              <a:t>cough</a:t>
            </a:r>
            <a:r>
              <a:rPr/>
              <a:t>, and </a:t>
            </a:r>
            <a:r>
              <a:rPr>
                <a:latin typeface="Courier"/>
              </a:rPr>
              <a:t>breath</a:t>
            </a:r>
            <a:r>
              <a:rPr/>
              <a:t> data).</a:t>
            </a:r>
          </a:p>
          <a:p>
            <a:pPr lvl="0" indent="-342900" marL="342900">
              <a:buAutoNum type="arabicPeriod"/>
            </a:pPr>
            <a:r>
              <a:rPr b="1"/>
              <a:t>Database Insertion (</a:t>
            </a:r>
            <a:r>
              <a:rPr b="1">
                <a:latin typeface="Courier"/>
              </a:rPr>
              <a:t>database.py</a:t>
            </a:r>
            <a:r>
              <a:rPr b="1"/>
              <a:t>)</a:t>
            </a:r>
            <a:r>
              <a:rPr/>
              <a:t>:</a:t>
            </a:r>
          </a:p>
          <a:p>
            <a:pPr lvl="1"/>
            <a:r>
              <a:rPr>
                <a:latin typeface="Courier"/>
              </a:rPr>
              <a:t>insert_patient()</a:t>
            </a:r>
            <a:r>
              <a:rPr/>
              <a:t> (Upserts via PatientID to prevent duplication)</a:t>
            </a:r>
          </a:p>
          <a:p>
            <a:pPr lvl="1"/>
            <a:r>
              <a:rPr>
                <a:latin typeface="Courier"/>
              </a:rPr>
              <a:t>insert_encounter()</a:t>
            </a:r>
            <a:r>
              <a:rPr/>
              <a:t>, </a:t>
            </a:r>
            <a:r>
              <a:rPr>
                <a:latin typeface="Courier"/>
              </a:rPr>
              <a:t>insert_symptom()</a:t>
            </a:r>
            <a:r>
              <a:rPr/>
              <a:t>, etc.</a:t>
            </a:r>
          </a:p>
          <a:p>
            <a:pPr lvl="1"/>
            <a:r>
              <a:rPr/>
              <a:t>Updates one-to-one records like smoking history &amp; exposures.</a:t>
            </a:r>
          </a:p>
          <a:p>
            <a:pPr lvl="0" indent="-342900" marL="342900">
              <a:buAutoNum type="arabicPeriod"/>
            </a:pPr>
            <a:r>
              <a:rPr b="1"/>
              <a:t>Diagnostic Engine Call</a:t>
            </a:r>
            <a:r>
              <a:rPr/>
              <a:t>: </a:t>
            </a:r>
            <a:r>
              <a:rPr>
                <a:latin typeface="Courier"/>
              </a:rPr>
              <a:t>calculate_disease_probability()</a:t>
            </a:r>
            <a:r>
              <a:rPr/>
              <a:t> processes all details.</a:t>
            </a:r>
          </a:p>
          <a:p>
            <a:pPr lvl="0" indent="-342900" marL="342900">
              <a:buAutoNum type="arabicPeriod"/>
            </a:pPr>
            <a:r>
              <a:rPr b="1"/>
              <a:t>Result Storage</a:t>
            </a:r>
            <a:r>
              <a:rPr/>
              <a:t>: Engine result is pushed to </a:t>
            </a:r>
            <a:r>
              <a:rPr>
                <a:latin typeface="Courier"/>
              </a:rPr>
              <a:t>disease_probability_scores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UI Update</a:t>
            </a:r>
            <a:r>
              <a:rPr/>
              <a:t>: Probability score and risk levels are dynamically shown to the User.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Workflow: Querying Past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Fetching history relies heavily on </a:t>
            </a:r>
            <a:r>
              <a:rPr b="1"/>
              <a:t>MongoDB Aggregation Pipelines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User Request</a:t>
            </a:r>
            <a:r>
              <a:rPr/>
              <a:t>: Navigates to “Past Reports” page in the UI.</a:t>
            </a:r>
          </a:p>
          <a:p>
            <a:pPr lvl="0" indent="-342900" marL="342900">
              <a:buAutoNum type="arabicPeriod"/>
            </a:pPr>
            <a:r>
              <a:rPr b="1"/>
              <a:t>Backend Execution (</a:t>
            </a:r>
            <a:r>
              <a:rPr b="1">
                <a:latin typeface="Courier"/>
              </a:rPr>
              <a:t>get_all_reports()</a:t>
            </a:r>
            <a:r>
              <a:rPr b="1"/>
              <a:t>)</a:t>
            </a:r>
            <a:r>
              <a:rPr/>
              <a:t>:</a:t>
            </a:r>
          </a:p>
          <a:p>
            <a:pPr lvl="1"/>
            <a:r>
              <a:rPr/>
              <a:t>Hits </a:t>
            </a:r>
            <a:r>
              <a:rPr>
                <a:latin typeface="Courier"/>
              </a:rPr>
              <a:t>disease_probability_scores</a:t>
            </a:r>
            <a:r>
              <a:rPr/>
              <a:t> collection.</a:t>
            </a:r>
          </a:p>
          <a:p>
            <a:pPr lvl="1"/>
            <a:r>
              <a:rPr>
                <a:latin typeface="Courier"/>
              </a:rPr>
              <a:t>$lookup</a:t>
            </a:r>
            <a:r>
              <a:rPr/>
              <a:t> against </a:t>
            </a:r>
            <a:r>
              <a:rPr>
                <a:latin typeface="Courier"/>
              </a:rPr>
              <a:t>clinical_encounters</a:t>
            </a:r>
            <a:r>
              <a:rPr/>
              <a:t> using </a:t>
            </a:r>
            <a:r>
              <a:rPr>
                <a:latin typeface="Courier"/>
              </a:rPr>
              <a:t>EncounterID</a:t>
            </a:r>
            <a:r>
              <a:rPr/>
              <a:t>.</a:t>
            </a:r>
          </a:p>
          <a:p>
            <a:pPr lvl="1"/>
            <a:r>
              <a:rPr>
                <a:latin typeface="Courier"/>
              </a:rPr>
              <a:t>$unwind</a:t>
            </a:r>
            <a:r>
              <a:rPr/>
              <a:t> encounter array to flatten documents.</a:t>
            </a:r>
          </a:p>
          <a:p>
            <a:pPr lvl="1"/>
            <a:r>
              <a:rPr>
                <a:latin typeface="Courier"/>
              </a:rPr>
              <a:t>$lookup</a:t>
            </a:r>
            <a:r>
              <a:rPr/>
              <a:t> against </a:t>
            </a:r>
            <a:r>
              <a:rPr>
                <a:latin typeface="Courier"/>
              </a:rPr>
              <a:t>patients</a:t>
            </a:r>
            <a:r>
              <a:rPr/>
              <a:t> using </a:t>
            </a:r>
            <a:r>
              <a:rPr>
                <a:latin typeface="Courier"/>
              </a:rPr>
              <a:t>PatientID</a:t>
            </a:r>
            <a:r>
              <a:rPr/>
              <a:t> (found in the unwound encounter).</a:t>
            </a:r>
          </a:p>
          <a:p>
            <a:pPr lvl="1"/>
            <a:r>
              <a:rPr>
                <a:latin typeface="Courier"/>
              </a:rPr>
              <a:t>$unwind</a:t>
            </a:r>
            <a:r>
              <a:rPr/>
              <a:t> patient array.</a:t>
            </a:r>
          </a:p>
          <a:p>
            <a:pPr lvl="1"/>
            <a:r>
              <a:rPr>
                <a:latin typeface="Courier"/>
              </a:rPr>
              <a:t>$project</a:t>
            </a:r>
            <a:r>
              <a:rPr/>
              <a:t> key data elements (Score, Disease, Date, Patient Name).</a:t>
            </a:r>
          </a:p>
          <a:p>
            <a:pPr lvl="1"/>
            <a:r>
              <a:rPr>
                <a:latin typeface="Courier"/>
              </a:rPr>
              <a:t>$sort</a:t>
            </a:r>
            <a:r>
              <a:rPr/>
              <a:t> by date descending.</a:t>
            </a:r>
          </a:p>
          <a:p>
            <a:pPr lvl="0" indent="-342900" marL="342900">
              <a:buAutoNum type="arabicPeriod"/>
            </a:pPr>
            <a:r>
              <a:rPr b="1"/>
              <a:t>Display</a:t>
            </a:r>
            <a:r>
              <a:rPr/>
              <a:t>: Converted to a Pandas DataFrame and rendered as a tabular breakdown and Detailed Expanders in Streamlit.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2026-03-17T12:37:14Z</dcterms:created>
  <dcterms:modified xsi:type="dcterms:W3CDTF">2026-03-17T12:37:14Z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